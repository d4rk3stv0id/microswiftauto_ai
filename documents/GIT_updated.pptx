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</p:sldMasterIdLst>
  <p:notesMasterIdLst>
    <p:notesMasterId r:id="rId1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move the slide</a:t>
            </a: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7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77" name="PlaceHolder 4"/>
          <p:cNvSpPr>
            <a:spLocks noGrp="1"/>
          </p:cNvSpPr>
          <p:nvPr>
            <p:ph type="dt" idx="35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78" name="PlaceHolder 5"/>
          <p:cNvSpPr>
            <a:spLocks noGrp="1"/>
          </p:cNvSpPr>
          <p:nvPr>
            <p:ph type="ftr" idx="36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79" name="PlaceHolder 6"/>
          <p:cNvSpPr>
            <a:spLocks noGrp="1"/>
          </p:cNvSpPr>
          <p:nvPr>
            <p:ph type="sldNum" idx="37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E8AFFCB-7DAB-4670-A7B1-3E7EAAED876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5E8D452-641E-435A-B7D2-117F0A5C89F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Talk about how they are managing their documents, how google docs does automatic versioning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 them what they know  about Android and IoS versions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I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9020F6E-6D7A-48B2-8F20-DB3D9A47C471}" type="slidenum"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Talk about how they are managing their documents, how google docs does automatic versioning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 them what they know  about Android and IoS versions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I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E5052C9-5226-4B76-8A64-3DB9B32AC353}" type="slidenum"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Talk about how they are managing their documents, how google docs does automatic versioning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 them what they know  about Android and IoS versions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I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C209574-C768-42F1-90D1-C491079E1C07}" type="slidenum"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Only stress on the 1</a:t>
            </a:r>
            <a:r>
              <a:rPr lang="en-IN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</a:rPr>
              <a:t>st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sentence – the definition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Come back to the 2</a:t>
            </a:r>
            <a:r>
              <a:rPr lang="en-IN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</a:rPr>
              <a:t>nd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sentence in the end as part of revision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I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AB7FFAC-B4A3-4A09-A0A2-FC7CD98E513B}" type="slidenum"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Only stress on the 1</a:t>
            </a:r>
            <a:r>
              <a:rPr lang="en-IN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</a:rPr>
              <a:t>st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sentence – the definition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Come back to the 2</a:t>
            </a:r>
            <a:r>
              <a:rPr lang="en-IN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</a:rPr>
              <a:t>nd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sentence in the end as part of revision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I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2934E34-9171-4992-8826-A4B3E830F0C8}" type="slidenum"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Only stress on the 1</a:t>
            </a:r>
            <a:r>
              <a:rPr lang="en-IN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</a:rPr>
              <a:t>st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sentence – the definition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Come back to the 2</a:t>
            </a:r>
            <a:r>
              <a:rPr lang="en-IN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</a:rPr>
              <a:t>nd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sentence in the end as part of revision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I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1C7B630-506C-4BB2-9B4E-148E3B0A5F77}" type="slidenum"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Only stress on the 1</a:t>
            </a:r>
            <a:r>
              <a:rPr lang="en-IN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</a:rPr>
              <a:t>st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sentence – the definition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Come back to the 2</a:t>
            </a:r>
            <a:r>
              <a:rPr lang="en-IN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</a:rPr>
              <a:t>nd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sentence in the end as part of revision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I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0D2B393-0401-4874-9069-B3DF1C660BD5}" type="slidenum"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Only stress on the 1</a:t>
            </a:r>
            <a:r>
              <a:rPr lang="en-IN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</a:rPr>
              <a:t>st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sentence – the definition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Come back to the 2</a:t>
            </a:r>
            <a:r>
              <a:rPr lang="en-IN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</a:rPr>
              <a:t>nd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sentence in the end as part of revision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I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71B1F64-2D07-4EF6-8DF6-2A042D3F450A}" type="slidenum"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v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buNone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6" name="PlaceHolder 4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17" name="PlaceHolder 5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8" name="PlaceHolder 6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396ED98-D60A-45B9-B1F6-D8E5FA5E356B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 rot="5400000">
            <a:off x="3920400" y="-1256400"/>
            <a:ext cx="4350960" cy="10515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1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22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3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0553608-094F-4A48-AC88-11A5D3FEA34B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 rot="5400000">
            <a:off x="7133400" y="1956240"/>
            <a:ext cx="5811480" cy="2628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 rot="5400000">
            <a:off x="1800000" y="-596160"/>
            <a:ext cx="5811480" cy="773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6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27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8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DDD3A19-3E27-4C4F-B809-6155F9F14132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  <a:lvl2pPr lvl="1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2pPr>
            <a:lvl3pPr lvl="2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3pPr>
            <a:lvl4pPr lvl="3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4pPr>
            <a:lvl5pPr lvl="4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5pPr>
          </a:lstStyle>
          <a:p>
            <a:pPr marL="457200" indent="-40644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1" indent="-38088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2" indent="-35568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3" indent="-34308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4" indent="-34308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3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4A5C34F-EB74-4919-8B42-036ED99D816F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genda Whit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28;p3" descr="C:\Users\Admin\Downloads\ilovepdf_pages-to-jpg (3)\RU_PPT Template-White Blank (1)_page-0003.jp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PlaceHolder 1"/>
          <p:cNvSpPr>
            <a:spLocks noGrp="1"/>
          </p:cNvSpPr>
          <p:nvPr>
            <p:ph type="sldNum" idx="13"/>
          </p:nvPr>
        </p:nvSpPr>
        <p:spPr>
          <a:xfrm>
            <a:off x="11367000" y="6095880"/>
            <a:ext cx="595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Roboto Medium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31A11E72-28C6-4EE1-A84E-C260020925F2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Roboto Medium"/>
              </a:rPr>
              <a:t>‹#›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title"/>
          </p:nvPr>
        </p:nvSpPr>
        <p:spPr>
          <a:xfrm>
            <a:off x="695520" y="395640"/>
            <a:ext cx="6211440" cy="837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695520" y="1774080"/>
            <a:ext cx="10800720" cy="432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808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3808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buNone/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dt" idx="1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40" name="PlaceHolder 3"/>
          <p:cNvSpPr>
            <a:spLocks noGrp="1"/>
          </p:cNvSpPr>
          <p:nvPr>
            <p:ph type="ftr" idx="1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1" name="PlaceHolder 4"/>
          <p:cNvSpPr>
            <a:spLocks noGrp="1"/>
          </p:cNvSpPr>
          <p:nvPr>
            <p:ph type="sldNum" idx="1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0FA2092-F39E-4DE9-9B7A-12512AADBB8A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buNone/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47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4" name="PlaceHolder 3"/>
          <p:cNvSpPr>
            <a:spLocks noGrp="1"/>
          </p:cNvSpPr>
          <p:nvPr>
            <p:ph type="dt" idx="1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45" name="PlaceHolder 4"/>
          <p:cNvSpPr>
            <a:spLocks noGrp="1"/>
          </p:cNvSpPr>
          <p:nvPr>
            <p:ph type="ftr" idx="1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6" name="PlaceHolder 5"/>
          <p:cNvSpPr>
            <a:spLocks noGrp="1"/>
          </p:cNvSpPr>
          <p:nvPr>
            <p:ph type="sldNum" idx="1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0418449-FBD5-45B7-BF16-627741152E54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0" name="PlaceHolder 4"/>
          <p:cNvSpPr>
            <a:spLocks noGrp="1"/>
          </p:cNvSpPr>
          <p:nvPr>
            <p:ph type="dt" idx="2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51" name="PlaceHolder 5"/>
          <p:cNvSpPr>
            <a:spLocks noGrp="1"/>
          </p:cNvSpPr>
          <p:nvPr>
            <p:ph type="ftr" idx="2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2" name="PlaceHolder 6"/>
          <p:cNvSpPr>
            <a:spLocks noGrp="1"/>
          </p:cNvSpPr>
          <p:nvPr>
            <p:ph type="sldNum" idx="2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7A08A06-303F-48D9-BCB1-A75B1700F530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8" name="PlaceHolder 6"/>
          <p:cNvSpPr>
            <a:spLocks noGrp="1"/>
          </p:cNvSpPr>
          <p:nvPr>
            <p:ph type="dt" idx="2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59" name="PlaceHolder 7"/>
          <p:cNvSpPr>
            <a:spLocks noGrp="1"/>
          </p:cNvSpPr>
          <p:nvPr>
            <p:ph type="ftr" idx="2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0" name="PlaceHolder 8"/>
          <p:cNvSpPr>
            <a:spLocks noGrp="1"/>
          </p:cNvSpPr>
          <p:nvPr>
            <p:ph type="sldNum" idx="2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7A436E5-21CB-4F46-AAE9-74F32291C832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2" name="PlaceHolder 2"/>
          <p:cNvSpPr>
            <a:spLocks noGrp="1"/>
          </p:cNvSpPr>
          <p:nvPr>
            <p:ph type="dt" idx="2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63" name="PlaceHolder 3"/>
          <p:cNvSpPr>
            <a:spLocks noGrp="1"/>
          </p:cNvSpPr>
          <p:nvPr>
            <p:ph type="ftr" idx="2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4" name="PlaceHolder 4"/>
          <p:cNvSpPr>
            <a:spLocks noGrp="1"/>
          </p:cNvSpPr>
          <p:nvPr>
            <p:ph type="sldNum" idx="2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7F9EF5A-1D28-4B13-B21D-D1D49B9DCAB0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dt" idx="2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66" name="PlaceHolder 2"/>
          <p:cNvSpPr>
            <a:spLocks noGrp="1"/>
          </p:cNvSpPr>
          <p:nvPr>
            <p:ph type="ftr" idx="3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7" name="PlaceHolder 3"/>
          <p:cNvSpPr>
            <a:spLocks noGrp="1"/>
          </p:cNvSpPr>
          <p:nvPr>
            <p:ph type="sldNum" idx="3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A1C7553-B6C6-41EE-B726-3FD363E340F6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buNone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3164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40644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3808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3556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71" name="PlaceHolder 4"/>
          <p:cNvSpPr>
            <a:spLocks noGrp="1"/>
          </p:cNvSpPr>
          <p:nvPr>
            <p:ph type="dt" idx="3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72" name="PlaceHolder 5"/>
          <p:cNvSpPr>
            <a:spLocks noGrp="1"/>
          </p:cNvSpPr>
          <p:nvPr>
            <p:ph type="ftr" idx="3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73" name="PlaceHolder 6"/>
          <p:cNvSpPr>
            <a:spLocks noGrp="1"/>
          </p:cNvSpPr>
          <p:nvPr>
            <p:ph type="sldNum" idx="3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DF4CAD6-0101-40B5-A47E-494C6F7BC682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6;p2" descr="C:\Users\Admin\Downloads\ilovepdf_pages-to-jpg (1)\RU_PPT Template-White Blank_page-0001.jpg"/>
          <p:cNvPicPr/>
          <p:nvPr/>
        </p:nvPicPr>
        <p:blipFill>
          <a:blip r:embed="rId3"/>
          <a:stretch/>
        </p:blipFill>
        <p:spPr>
          <a:xfrm>
            <a:off x="0" y="0"/>
            <a:ext cx="1219284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Google Shape;17;p2"/>
          <p:cNvSpPr/>
          <p:nvPr/>
        </p:nvSpPr>
        <p:spPr>
          <a:xfrm>
            <a:off x="685800" y="5880240"/>
            <a:ext cx="3422160" cy="9774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" name="Google Shape;18;p2"/>
          <p:cNvSpPr/>
          <p:nvPr/>
        </p:nvSpPr>
        <p:spPr>
          <a:xfrm>
            <a:off x="8769240" y="5486400"/>
            <a:ext cx="3422160" cy="9774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grpSp>
        <p:nvGrpSpPr>
          <p:cNvPr id="5" name="Google Shape;19;p2"/>
          <p:cNvGrpSpPr/>
          <p:nvPr/>
        </p:nvGrpSpPr>
        <p:grpSpPr>
          <a:xfrm>
            <a:off x="9220320" y="5410080"/>
            <a:ext cx="2601360" cy="1082520"/>
            <a:chOff x="9220320" y="5410080"/>
            <a:chExt cx="2601360" cy="1082520"/>
          </a:xfrm>
        </p:grpSpPr>
        <p:pic>
          <p:nvPicPr>
            <p:cNvPr id="6" name="Google Shape;20;p2" descr="NIRF — SAVEETHA SCHOOL OF MANAGEMENT"/>
            <p:cNvPicPr/>
            <p:nvPr/>
          </p:nvPicPr>
          <p:blipFill>
            <a:blip r:embed="rId4"/>
            <a:srcRect l="27515" t="4365" r="28911" b="7119"/>
            <a:stretch/>
          </p:blipFill>
          <p:spPr>
            <a:xfrm>
              <a:off x="10302840" y="5410080"/>
              <a:ext cx="605880" cy="474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" name="Google Shape;21;p2" descr="Bharath University - Top University In India"/>
            <p:cNvPicPr/>
            <p:nvPr/>
          </p:nvPicPr>
          <p:blipFill>
            <a:blip r:embed="rId5"/>
            <a:stretch/>
          </p:blipFill>
          <p:spPr>
            <a:xfrm>
              <a:off x="9307800" y="5478480"/>
              <a:ext cx="831960" cy="345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" name="Google Shape;22;p2" descr="CREDISAPP for Ratings - Eloit"/>
            <p:cNvPicPr/>
            <p:nvPr/>
          </p:nvPicPr>
          <p:blipFill>
            <a:blip r:embed="rId6"/>
            <a:stretch/>
          </p:blipFill>
          <p:spPr>
            <a:xfrm>
              <a:off x="10985760" y="5423400"/>
              <a:ext cx="829800" cy="461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" name="Google Shape;23;p2" descr="MHRD | Innovation Cell - Home"/>
            <p:cNvPicPr/>
            <p:nvPr/>
          </p:nvPicPr>
          <p:blipFill>
            <a:blip r:embed="rId7"/>
            <a:stretch/>
          </p:blipFill>
          <p:spPr>
            <a:xfrm>
              <a:off x="9220320" y="5965200"/>
              <a:ext cx="1334880" cy="5274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" name="Google Shape;24;p2" descr="Institution's Innovation Council | MHRD"/>
            <p:cNvPicPr/>
            <p:nvPr/>
          </p:nvPicPr>
          <p:blipFill>
            <a:blip r:embed="rId8"/>
            <a:srcRect l="8882" t="20708" r="8882" b="24340"/>
            <a:stretch/>
          </p:blipFill>
          <p:spPr>
            <a:xfrm>
              <a:off x="10851840" y="5952600"/>
              <a:ext cx="969840" cy="5112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058400" y="3124080"/>
            <a:ext cx="8421480" cy="1749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4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046520" y="5129640"/>
            <a:ext cx="6755400" cy="40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3808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3556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106;p15"/>
          <p:cNvSpPr/>
          <p:nvPr/>
        </p:nvSpPr>
        <p:spPr>
          <a:xfrm>
            <a:off x="3449880" y="3646800"/>
            <a:ext cx="4749840" cy="134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MicroSwiftAuto AI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Google Shape;107;p15"/>
          <p:cNvSpPr/>
          <p:nvPr/>
        </p:nvSpPr>
        <p:spPr>
          <a:xfrm>
            <a:off x="1569960" y="2804760"/>
            <a:ext cx="9838440" cy="119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School of Computer Science &amp; Engineering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AI Application Development – IA1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95520" y="395640"/>
            <a:ext cx="7937640" cy="837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lnSpc>
                <a:spcPct val="90000"/>
              </a:lnSpc>
              <a:buNone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Team Members &amp; Roles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3" name="Table 5"/>
          <p:cNvGraphicFramePr/>
          <p:nvPr/>
        </p:nvGraphicFramePr>
        <p:xfrm>
          <a:off x="799920" y="1233360"/>
          <a:ext cx="9832320" cy="4032000"/>
        </p:xfrm>
        <a:graphic>
          <a:graphicData uri="http://schemas.openxmlformats.org/drawingml/2006/table">
            <a:tbl>
              <a:tblPr/>
              <a:tblGrid>
                <a:gridCol w="491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1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Team Member Name</a:t>
                      </a:r>
                      <a:endParaRPr lang="en-US" sz="2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Role</a:t>
                      </a:r>
                      <a:endParaRPr lang="en-US" sz="2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r>
                        <a:rPr lang="en-IN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Mohammed Faizaan Faiz</a:t>
                      </a: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Team Lead</a:t>
                      </a: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r>
                        <a:rPr lang="en-IN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Lochan Thanigai Murugan Padmashree</a:t>
                      </a: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Development Lead</a:t>
                      </a: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r>
                        <a:rPr lang="en-IN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Mohammed Touhid</a:t>
                      </a: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Test Lead</a:t>
                      </a: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r>
                        <a:rPr lang="en-IN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Mudassir Rehman</a:t>
                      </a: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Customer Contact Lead</a:t>
                      </a: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r>
                        <a:rPr lang="en-IN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Kavya Arora</a:t>
                      </a: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>
                      <a:noFill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Developer</a:t>
                      </a: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Mohsin Lihas</a:t>
                      </a: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Customer Contact</a:t>
                      </a:r>
                    </a:p>
                  </a:txBody>
                  <a:tcPr>
                    <a:lnL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695520" y="395640"/>
            <a:ext cx="7937640" cy="837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lnSpc>
                <a:spcPct val="90000"/>
              </a:lnSpc>
              <a:buNone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 Modified Problem Statement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1004040" y="1595880"/>
            <a:ext cx="10519560" cy="379008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t">
            <a:normAutofit fontScale="92500" lnSpcReduction="9999"/>
          </a:bodyPr>
          <a:lstStyle/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Patients struggle to complete insurance claim processes due to complex paperwork and lack of technical knowledge.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This leads to delays, errors, or inability to claim insurance despite eligibility.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685800" y="357840"/>
            <a:ext cx="7761240" cy="80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lnSpc>
                <a:spcPct val="90000"/>
              </a:lnSpc>
              <a:buNone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 User / Customer Understanding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88" name="Picture 87"/>
          <p:cNvPicPr/>
          <p:nvPr/>
        </p:nvPicPr>
        <p:blipFill>
          <a:blip r:embed="rId3"/>
          <a:stretch/>
        </p:blipFill>
        <p:spPr>
          <a:xfrm>
            <a:off x="685800" y="1173600"/>
            <a:ext cx="3576240" cy="4602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" name="Picture 88"/>
          <p:cNvPicPr/>
          <p:nvPr/>
        </p:nvPicPr>
        <p:blipFill>
          <a:blip r:embed="rId4"/>
          <a:stretch/>
        </p:blipFill>
        <p:spPr>
          <a:xfrm>
            <a:off x="4485600" y="3352680"/>
            <a:ext cx="1834200" cy="239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" name="Picture 89"/>
          <p:cNvPicPr/>
          <p:nvPr/>
        </p:nvPicPr>
        <p:blipFill>
          <a:blip r:embed="rId5"/>
          <a:stretch/>
        </p:blipFill>
        <p:spPr>
          <a:xfrm>
            <a:off x="4485600" y="1161000"/>
            <a:ext cx="3354480" cy="1972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" name="Picture 90"/>
          <p:cNvPicPr/>
          <p:nvPr/>
        </p:nvPicPr>
        <p:blipFill>
          <a:blip r:embed="rId6"/>
          <a:stretch/>
        </p:blipFill>
        <p:spPr>
          <a:xfrm>
            <a:off x="8061840" y="1161000"/>
            <a:ext cx="2682360" cy="1972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Picture 91"/>
          <p:cNvPicPr/>
          <p:nvPr/>
        </p:nvPicPr>
        <p:blipFill>
          <a:blip r:embed="rId7"/>
          <a:stretch/>
        </p:blipFill>
        <p:spPr>
          <a:xfrm>
            <a:off x="8887680" y="3336480"/>
            <a:ext cx="1856520" cy="2427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Picture 92"/>
          <p:cNvPicPr/>
          <p:nvPr/>
        </p:nvPicPr>
        <p:blipFill>
          <a:blip r:embed="rId8"/>
          <a:stretch/>
        </p:blipFill>
        <p:spPr>
          <a:xfrm>
            <a:off x="6651000" y="3334680"/>
            <a:ext cx="1857960" cy="24292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95520" y="395640"/>
            <a:ext cx="6211440" cy="837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lnSpc>
                <a:spcPct val="90000"/>
              </a:lnSpc>
              <a:buNone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Ideal Customer Profile (ICP)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695520" y="1774080"/>
            <a:ext cx="10800720" cy="432000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t">
            <a:normAutofit/>
          </a:bodyPr>
          <a:lstStyle/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Demographic: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90000"/>
              </a:lnSpc>
              <a:spcBef>
                <a:spcPts val="28"/>
              </a:spcBef>
              <a:buClr>
                <a:srgbClr val="7F7F7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Age: 30–70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90000"/>
              </a:lnSpc>
              <a:spcBef>
                <a:spcPts val="28"/>
              </a:spcBef>
              <a:buClr>
                <a:srgbClr val="7F7F7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People with health insurance.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90000"/>
              </a:lnSpc>
              <a:spcBef>
                <a:spcPts val="28"/>
              </a:spcBef>
              <a:buClr>
                <a:srgbClr val="7F7F7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Hospital patients &amp; families.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90000"/>
              </a:lnSpc>
              <a:spcBef>
                <a:spcPts val="28"/>
              </a:spcBef>
              <a:buClr>
                <a:srgbClr val="7F7F7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Clinics and hospitals.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Psycho-graphic: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90000"/>
              </a:lnSpc>
              <a:spcBef>
                <a:spcPts val="28"/>
              </a:spcBef>
              <a:buClr>
                <a:srgbClr val="7F7F7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Struggle with digital tools.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90000"/>
              </a:lnSpc>
              <a:spcBef>
                <a:spcPts val="28"/>
              </a:spcBef>
              <a:buClr>
                <a:srgbClr val="7F7F7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Want faster claim processing.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90000"/>
              </a:lnSpc>
              <a:spcBef>
                <a:spcPts val="28"/>
              </a:spcBef>
              <a:buClr>
                <a:srgbClr val="7F7F7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Prefer guided or automated systems.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95520" y="395640"/>
            <a:ext cx="6211440" cy="837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lnSpc>
                <a:spcPct val="90000"/>
              </a:lnSpc>
              <a:buNone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Customer Persona (CP)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695520" y="1774080"/>
            <a:ext cx="10800720" cy="371232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t">
            <a:normAutofit fontScale="92500" lnSpcReduction="9999"/>
          </a:bodyPr>
          <a:lstStyle/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Name: Rajesh Kumar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Age: 52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Occupation: Small business owner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Situation: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Hospitalized and insured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Cannot understand claim forms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Depends on hospital staff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Pain Points: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90000"/>
              </a:lnSpc>
              <a:spcBef>
                <a:spcPts val="28"/>
              </a:spcBef>
              <a:buClr>
                <a:srgbClr val="7F7F7F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Confusing paperwork.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90000"/>
              </a:lnSpc>
              <a:spcBef>
                <a:spcPts val="28"/>
              </a:spcBef>
              <a:buClr>
                <a:srgbClr val="7F7F7F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Fear of rejection.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90000"/>
              </a:lnSpc>
              <a:spcBef>
                <a:spcPts val="28"/>
              </a:spcBef>
              <a:buClr>
                <a:srgbClr val="7F7F7F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Time-consuming process.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95520" y="395640"/>
            <a:ext cx="6211440" cy="837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lnSpc>
                <a:spcPct val="90000"/>
              </a:lnSpc>
              <a:buNone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 Product USP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695520" y="1774080"/>
            <a:ext cx="10800720" cy="29354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t">
            <a:normAutofit/>
          </a:bodyPr>
          <a:lstStyle/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7F7F7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Roboto Medium"/>
              </a:rPr>
              <a:t>AI-driven automated claim form filling.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7F7F7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Roboto Medium"/>
              </a:rPr>
              <a:t>Reduces human errors in documentation.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7F7F7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Roboto Medium"/>
              </a:rPr>
              <a:t>Faster claim submission process.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7F7F7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Roboto Medium"/>
              </a:rPr>
              <a:t>Accessible for non-technical users.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695520" y="395640"/>
            <a:ext cx="7045200" cy="837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lnSpc>
                <a:spcPct val="90000"/>
              </a:lnSpc>
              <a:buNone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 Use Cases &amp; High level Requirements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5" name="Content Placeholder 1"/>
          <p:cNvSpPr txBox="1"/>
          <p:nvPr/>
        </p:nvSpPr>
        <p:spPr>
          <a:xfrm>
            <a:off x="695520" y="1774080"/>
            <a:ext cx="10800720" cy="29354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t">
            <a:normAutofit fontScale="92500" lnSpcReduction="9999"/>
          </a:bodyPr>
          <a:lstStyle/>
          <a:p>
            <a:pPr>
              <a:lnSpc>
                <a:spcPct val="90000"/>
              </a:lnSpc>
              <a:spcBef>
                <a:spcPts val="28"/>
              </a:spcBef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Use Cases: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28"/>
              </a:spcBef>
              <a:buClr>
                <a:srgbClr val="7F7F7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Upload medical bills and reports.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28"/>
              </a:spcBef>
              <a:buClr>
                <a:srgbClr val="7F7F7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Auto-fill insurance claim forms.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28"/>
              </a:spcBef>
              <a:buClr>
                <a:srgbClr val="7F7F7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Validate entered data.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28"/>
              </a:spcBef>
              <a:buClr>
                <a:srgbClr val="7F7F7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Suggest missing information.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28"/>
              </a:spcBef>
              <a:buClr>
                <a:srgbClr val="7F7F7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Submit claim digitally.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28"/>
              </a:spcBef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28"/>
              </a:spcBef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Expected Output: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28"/>
              </a:spcBef>
              <a:buClr>
                <a:srgbClr val="7F7F7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Error-free claim form.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28"/>
              </a:spcBef>
              <a:buClr>
                <a:srgbClr val="7F7F7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Faster approval process.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695520" y="395640"/>
            <a:ext cx="7045200" cy="837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lnSpc>
                <a:spcPct val="90000"/>
              </a:lnSpc>
              <a:buNone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 Proof of Concept (PoC) / Prototype Demo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695520" y="1233360"/>
            <a:ext cx="10800720" cy="1174174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t">
            <a:normAutofit/>
          </a:bodyPr>
          <a:lstStyle/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GitHub Repository Link -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br>
              <a:rPr sz="2400" dirty="0"/>
            </a:br>
            <a:r>
              <a:rPr lang="en-US" sz="2000" b="0" u="sng" strike="noStrike" dirty="0">
                <a:solidFill>
                  <a:srgbClr val="729FCF"/>
                </a:solidFill>
                <a:effectLst/>
                <a:uFillTx/>
                <a:latin typeface="Roboto Medium"/>
                <a:ea typeface="Calibri"/>
              </a:rPr>
              <a:t>https://github.com/d4rk3stV0id/MicroSwiftAuto_AI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53ED3B-BC28-3E37-F56B-F9958C0D292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0324" y="3169251"/>
            <a:ext cx="3782178" cy="22133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D29BFA7-8ADB-35C2-EA71-F35297C2068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1094" y="3201849"/>
            <a:ext cx="3615614" cy="219895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237DB6-7734-F70D-EC89-9AB156B26C6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5834" y="428238"/>
            <a:ext cx="3125164" cy="193589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46F6976-7B94-8C5A-1FA1-C1A4CD3FFBC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179" y="3183216"/>
            <a:ext cx="3894580" cy="21495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2361</TotalTime>
  <Words>466</Words>
  <Application>Microsoft Office PowerPoint</Application>
  <PresentationFormat>Widescreen</PresentationFormat>
  <Paragraphs>104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Roboto Medium</vt:lpstr>
      <vt:lpstr>Symbol</vt:lpstr>
      <vt:lpstr>Times New Roman</vt:lpstr>
      <vt:lpstr>Wingdings</vt:lpstr>
      <vt:lpstr>1_Office Theme</vt:lpstr>
      <vt:lpstr>1_Office Theme</vt:lpstr>
      <vt:lpstr>PowerPoint Presentation</vt:lpstr>
      <vt:lpstr>Team Members &amp; Roles</vt:lpstr>
      <vt:lpstr> Modified Problem Statement</vt:lpstr>
      <vt:lpstr> User / Customer Understanding</vt:lpstr>
      <vt:lpstr>Ideal Customer Profile (ICP)</vt:lpstr>
      <vt:lpstr>Customer Persona (CP)</vt:lpstr>
      <vt:lpstr> Product USP</vt:lpstr>
      <vt:lpstr> Use Cases &amp; High level Requirements</vt:lpstr>
      <vt:lpstr> Proof of Concept (PoC) / Prototype 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Ramaraj Sri</dc:creator>
  <dc:description/>
  <cp:lastModifiedBy>Mohsin Lihas</cp:lastModifiedBy>
  <cp:revision>7</cp:revision>
  <dcterms:created xsi:type="dcterms:W3CDTF">2025-09-17T04:00:39Z</dcterms:created>
  <dcterms:modified xsi:type="dcterms:W3CDTF">2026-03-28T05:33:21Z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Widescreen</vt:lpwstr>
  </property>
  <property fmtid="{D5CDD505-2E9C-101B-9397-08002B2CF9AE}" pid="4" name="Slides">
    <vt:i4>9</vt:i4>
  </property>
</Properties>
</file>